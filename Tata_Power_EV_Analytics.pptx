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6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1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August</c:v>
                  </c:pt>
                  <c:pt idx="1">
                    <c:v>September</c:v>
                  </c:pt>
                  <c:pt idx="2">
                    <c:v>October</c:v>
                  </c:pt>
                  <c:pt idx="3">
                    <c:v>November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26820</c:v>
                </c:pt>
                <c:pt idx="1">
                  <c:v>38600</c:v>
                </c:pt>
                <c:pt idx="2">
                  <c:v>39610</c:v>
                </c:pt>
                <c:pt idx="3">
                  <c:v>8970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(₹M)</c:v>
                </c:pt>
              </c:strCache>
            </c:strRef>
          </c:tx>
          <c:spPr>
            <a:solidFill>
              <a:srgbClr val="0D1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August</c:v>
                  </c:pt>
                  <c:pt idx="1">
                    <c:v>November</c:v>
                  </c:pt>
                  <c:pt idx="2">
                    <c:v>October</c:v>
                  </c:pt>
                  <c:pt idx="3">
                    <c:v>September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11.7</c:v>
                </c:pt>
                <c:pt idx="1">
                  <c:v>3.9</c:v>
                </c:pt>
                <c:pt idx="2">
                  <c:v>17.3</c:v>
                </c:pt>
                <c:pt idx="3">
                  <c:v>16.8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Energy Consumed (M kWh)</c:v>
                </c:pt>
              </c:strCache>
            </c:strRef>
          </c:tx>
          <c:spPr>
            <a:solidFill>
              <a:srgbClr val="4A9F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August</c:v>
                  </c:pt>
                  <c:pt idx="1">
                    <c:v>November</c:v>
                  </c:pt>
                  <c:pt idx="2">
                    <c:v>October</c:v>
                  </c:pt>
                  <c:pt idx="3">
                    <c:v>September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</c:v>
                </c:pt>
                <c:pt idx="1">
                  <c:v>0.2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4A9F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1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6DB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High</c:v>
                  </c:pt>
                  <c:pt idx="1">
                    <c:v>Low-Mid</c:v>
                  </c:pt>
                  <c:pt idx="2">
                    <c:v>Mid-Range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16980</c:v>
                </c:pt>
                <c:pt idx="1">
                  <c:v>56960</c:v>
                </c:pt>
                <c:pt idx="2">
                  <c:v>40060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D1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1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Station 24</c:v>
                  </c:pt>
                  <c:pt idx="1">
                    <c:v>Station 26</c:v>
                  </c:pt>
                  <c:pt idx="2">
                    <c:v>Station 51</c:v>
                  </c:pt>
                  <c:pt idx="3">
                    <c:v>Station 36</c:v>
                  </c:pt>
                  <c:pt idx="4">
                    <c:v>Station 32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1860</c:v>
                </c:pt>
                <c:pt idx="1">
                  <c:v>1860</c:v>
                </c:pt>
                <c:pt idx="2">
                  <c:v>1840</c:v>
                </c:pt>
                <c:pt idx="3">
                  <c:v>1820</c:v>
                </c:pt>
                <c:pt idx="4">
                  <c:v>1820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D1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1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1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6D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6D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6DB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24</c:v>
                  </c:pt>
                  <c:pt idx="1">
                    <c:v>26</c:v>
                  </c:pt>
                  <c:pt idx="2">
                    <c:v>51</c:v>
                  </c:pt>
                  <c:pt idx="3">
                    <c:v>36</c:v>
                  </c:pt>
                  <c:pt idx="4">
                    <c:v>32</c:v>
                  </c:pt>
                  <c:pt idx="5">
                    <c:v>147</c:v>
                  </c:pt>
                  <c:pt idx="6">
                    <c:v>196</c:v>
                  </c:pt>
                  <c:pt idx="7">
                    <c:v>7</c:v>
                  </c:pt>
                  <c:pt idx="8">
                    <c:v>63</c:v>
                  </c:pt>
                  <c:pt idx="9">
                    <c:v>25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1860</c:v>
                </c:pt>
                <c:pt idx="1">
                  <c:v>1860</c:v>
                </c:pt>
                <c:pt idx="2">
                  <c:v>1840</c:v>
                </c:pt>
                <c:pt idx="3">
                  <c:v>1820</c:v>
                </c:pt>
                <c:pt idx="4">
                  <c:v>1820</c:v>
                </c:pt>
                <c:pt idx="5">
                  <c:v>1820</c:v>
                </c:pt>
                <c:pt idx="6">
                  <c:v>1810</c:v>
                </c:pt>
                <c:pt idx="7">
                  <c:v>1810</c:v>
                </c:pt>
                <c:pt idx="8">
                  <c:v>1810</c:v>
                </c:pt>
                <c:pt idx="9">
                  <c:v>1800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Stations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Whitefield</c:v>
                  </c:pt>
                  <c:pt idx="1">
                    <c:v>Rajajinagar</c:v>
                  </c:pt>
                  <c:pt idx="2">
                    <c:v>Koramangala</c:v>
                  </c:pt>
                  <c:pt idx="3">
                    <c:v>JP Nagar</c:v>
                  </c:pt>
                  <c:pt idx="4">
                    <c:v>Indiranagar</c:v>
                  </c:pt>
                  <c:pt idx="5">
                    <c:v>Hebbal</c:v>
                  </c:pt>
                  <c:pt idx="6">
                    <c:v>Dasarahalli</c:v>
                  </c:pt>
                  <c:pt idx="7">
                    <c:v>Bommanahalli</c:v>
                  </c:pt>
                  <c:pt idx="8">
                    <c:v>Anekal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5</c:v>
                </c:pt>
                <c:pt idx="5">
                  <c:v>4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kWh</c:v>
                </c:pt>
              </c:strCache>
            </c:strRef>
          </c:tx>
          <c:spPr>
            <a:solidFill>
              <a:srgbClr val="0D1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24</c:v>
                  </c:pt>
                  <c:pt idx="1">
                    <c:v>196</c:v>
                  </c:pt>
                  <c:pt idx="2">
                    <c:v>51</c:v>
                  </c:pt>
                  <c:pt idx="3">
                    <c:v>7</c:v>
                  </c:pt>
                  <c:pt idx="4">
                    <c:v>26</c:v>
                  </c:pt>
                  <c:pt idx="5">
                    <c:v>25</c:v>
                  </c:pt>
                  <c:pt idx="6">
                    <c:v>36</c:v>
                  </c:pt>
                  <c:pt idx="7">
                    <c:v>138</c:v>
                  </c:pt>
                  <c:pt idx="8">
                    <c:v>93</c:v>
                  </c:pt>
                  <c:pt idx="9">
                    <c:v>32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46920</c:v>
                </c:pt>
                <c:pt idx="1">
                  <c:v>46750</c:v>
                </c:pt>
                <c:pt idx="2">
                  <c:v>46600</c:v>
                </c:pt>
                <c:pt idx="3">
                  <c:v>46400</c:v>
                </c:pt>
                <c:pt idx="4">
                  <c:v>46370</c:v>
                </c:pt>
                <c:pt idx="5">
                  <c:v>45780</c:v>
                </c:pt>
                <c:pt idx="6">
                  <c:v>46080</c:v>
                </c:pt>
                <c:pt idx="7">
                  <c:v>45610</c:v>
                </c:pt>
                <c:pt idx="8">
                  <c:v>45390</c:v>
                </c:pt>
                <c:pt idx="9">
                  <c:v>45360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D640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75</c:v>
                  </c:pt>
                  <c:pt idx="1">
                    <c:v>8</c:v>
                  </c:pt>
                  <c:pt idx="2">
                    <c:v>155</c:v>
                  </c:pt>
                  <c:pt idx="3">
                    <c:v>72</c:v>
                  </c:pt>
                  <c:pt idx="4">
                    <c:v>151</c:v>
                  </c:pt>
                  <c:pt idx="5">
                    <c:v>181</c:v>
                  </c:pt>
                  <c:pt idx="6">
                    <c:v>76</c:v>
                  </c:pt>
                  <c:pt idx="7">
                    <c:v>182</c:v>
                  </c:pt>
                  <c:pt idx="8">
                    <c:v>57</c:v>
                  </c:pt>
                  <c:pt idx="9">
                    <c:v>185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1640</c:v>
                </c:pt>
                <c:pt idx="1">
                  <c:v>1660</c:v>
                </c:pt>
                <c:pt idx="2">
                  <c:v>1680</c:v>
                </c:pt>
                <c:pt idx="3">
                  <c:v>1680</c:v>
                </c:pt>
                <c:pt idx="4">
                  <c:v>1680</c:v>
                </c:pt>
                <c:pt idx="5">
                  <c:v>1700</c:v>
                </c:pt>
                <c:pt idx="6">
                  <c:v>1700</c:v>
                </c:pt>
                <c:pt idx="7">
                  <c:v>1700</c:v>
                </c:pt>
                <c:pt idx="8">
                  <c:v>1700</c:v>
                </c:pt>
                <c:pt idx="9">
                  <c:v>1700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D1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1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1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6D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6D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6DB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C2796</c:v>
                  </c:pt>
                  <c:pt idx="1">
                    <c:v>C0110</c:v>
                  </c:pt>
                  <c:pt idx="2">
                    <c:v>C6792</c:v>
                  </c:pt>
                  <c:pt idx="3">
                    <c:v>C3617</c:v>
                  </c:pt>
                  <c:pt idx="4">
                    <c:v>C1516</c:v>
                  </c:pt>
                  <c:pt idx="5">
                    <c:v>C1858</c:v>
                  </c:pt>
                  <c:pt idx="6">
                    <c:v>C0379</c:v>
                  </c:pt>
                  <c:pt idx="7">
                    <c:v>C2422</c:v>
                  </c:pt>
                  <c:pt idx="8">
                    <c:v>C2407</c:v>
                  </c:pt>
                  <c:pt idx="9">
                    <c:v>C2206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</c:v>
                </c:pt>
                <c:pt idx="1">
                  <c:v>29</c:v>
                </c:pt>
                <c:pt idx="2">
                  <c:v>28</c:v>
                </c:pt>
                <c:pt idx="3">
                  <c:v>27</c:v>
                </c:pt>
                <c:pt idx="4">
                  <c:v>27</c:v>
                </c:pt>
                <c:pt idx="5">
                  <c:v>26</c:v>
                </c:pt>
                <c:pt idx="6">
                  <c:v>26</c:v>
                </c:pt>
                <c:pt idx="7">
                  <c:v>26</c:v>
                </c:pt>
                <c:pt idx="8">
                  <c:v>26</c:v>
                </c:pt>
                <c:pt idx="9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4A9F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1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6DB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High</c:v>
                  </c:pt>
                  <c:pt idx="1">
                    <c:v>Low-Mid</c:v>
                  </c:pt>
                  <c:pt idx="2">
                    <c:v>Mid-Range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1190</c:v>
                </c:pt>
                <c:pt idx="1">
                  <c:v>3990</c:v>
                </c:pt>
                <c:pt idx="2">
                  <c:v>2820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9FD4"/>
              </a:solidFill>
              <a:effectLst/>
            </c:spPr>
          </c:dPt>
          <c:dPt>
            <c:idx val="1"/>
            <c:bubble3D val="0"/>
            <c:spPr>
              <a:solidFill>
                <a:srgbClr val="0D1A4A"/>
              </a:solidFill>
              <a:effectLst/>
            </c:spPr>
          </c:dPt>
          <c:dPt>
            <c:idx val="2"/>
            <c:bubble3D val="0"/>
            <c:spPr>
              <a:solidFill>
                <a:srgbClr val="2E6DB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Low-Mid</c:v>
                </c:pt>
                <c:pt idx="2">
                  <c:v>Mid-Range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15445155.69</c:v>
                </c:pt>
                <c:pt idx="1">
                  <c:v>17852747.35</c:v>
                </c:pt>
                <c:pt idx="2">
                  <c:v>16396044.01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Energy (M kWh)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9FD4"/>
              </a:solidFill>
              <a:effectLst/>
            </c:spPr>
          </c:dPt>
          <c:dPt>
            <c:idx val="1"/>
            <c:bubble3D val="0"/>
            <c:spPr>
              <a:solidFill>
                <a:srgbClr val="2E6DB4"/>
              </a:solidFill>
              <a:effectLst/>
            </c:spPr>
          </c:dPt>
          <c:dPt>
            <c:idx val="2"/>
            <c:bubble3D val="0"/>
            <c:spPr>
              <a:solidFill>
                <a:srgbClr val="0D1A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High (31%)</c:v>
                </c:pt>
                <c:pt idx="1">
                  <c:v>Low-Mid (33%)</c:v>
                </c:pt>
                <c:pt idx="2">
                  <c:v>Mid-Range (36%)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0.9</c:v>
                </c:pt>
                <c:pt idx="1">
                  <c:v>0.9</c:v>
                </c:pt>
                <c:pt idx="2">
                  <c:v>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D1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Ampere Nexus</c:v>
                  </c:pt>
                  <c:pt idx="1">
                    <c:v>Hero Electric Optima</c:v>
                  </c:pt>
                  <c:pt idx="2">
                    <c:v>Tata Tigor EV Base</c:v>
                  </c:pt>
                  <c:pt idx="3">
                    <c:v>Ola S1 Pro</c:v>
                  </c:pt>
                  <c:pt idx="4">
                    <c:v>Tata Tiago EV</c:v>
                  </c:pt>
                  <c:pt idx="5">
                    <c:v>Greaves Eltra</c:v>
                  </c:pt>
                  <c:pt idx="6">
                    <c:v>Ather 450X</c:v>
                  </c:pt>
                  <c:pt idx="7">
                    <c:v>Citroen eC3 Feel</c:v>
                  </c:pt>
                  <c:pt idx="8">
                    <c:v>Citroen eC3</c:v>
                  </c:pt>
                  <c:pt idx="9">
                    <c:v>Hyundai Kona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536</c:v>
                </c:pt>
                <c:pt idx="1">
                  <c:v>528</c:v>
                </c:pt>
                <c:pt idx="2">
                  <c:v>511</c:v>
                </c:pt>
                <c:pt idx="3">
                  <c:v>501</c:v>
                </c:pt>
                <c:pt idx="4">
                  <c:v>491</c:v>
                </c:pt>
                <c:pt idx="5">
                  <c:v>486</c:v>
                </c:pt>
                <c:pt idx="6">
                  <c:v>474</c:v>
                </c:pt>
                <c:pt idx="7">
                  <c:v>463</c:v>
                </c:pt>
                <c:pt idx="8">
                  <c:v>377</c:v>
                </c:pt>
                <c:pt idx="9">
                  <c:v>373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%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1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1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6D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6DB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6DB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Bommanahalli</c:v>
                  </c:pt>
                  <c:pt idx="1">
                    <c:v>Marathahalli</c:v>
                  </c:pt>
                  <c:pt idx="2">
                    <c:v>Banashankari</c:v>
                  </c:pt>
                  <c:pt idx="3">
                    <c:v>Electronic City</c:v>
                  </c:pt>
                  <c:pt idx="4">
                    <c:v>HSR Layout</c:v>
                  </c:pt>
                  <c:pt idx="5">
                    <c:v>JP Nagar</c:v>
                  </c:pt>
                  <c:pt idx="6">
                    <c:v>Jayanagar</c:v>
                  </c:pt>
                  <c:pt idx="7">
                    <c:v>Yelahanka</c:v>
                  </c:pt>
                  <c:pt idx="8">
                    <c:v>Rajajinagar</c:v>
                  </c:pt>
                  <c:pt idx="9">
                    <c:v>Rajarajeshwari Ngr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144.73</c:v>
                </c:pt>
                <c:pt idx="1">
                  <c:v>82.4</c:v>
                </c:pt>
                <c:pt idx="2">
                  <c:v>80.18</c:v>
                </c:pt>
                <c:pt idx="3">
                  <c:v>75.03</c:v>
                </c:pt>
                <c:pt idx="4">
                  <c:v>65.58</c:v>
                </c:pt>
                <c:pt idx="5">
                  <c:v>62.83</c:v>
                </c:pt>
                <c:pt idx="6">
                  <c:v>59.11</c:v>
                </c:pt>
                <c:pt idx="7">
                  <c:v>54.43</c:v>
                </c:pt>
                <c:pt idx="8">
                  <c:v>54</c:v>
                </c:pt>
                <c:pt idx="9">
                  <c:v>46.9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EVs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Jayanagar</c:v>
                  </c:pt>
                  <c:pt idx="1">
                    <c:v>Rajajinagar</c:v>
                  </c:pt>
                  <c:pt idx="2">
                    <c:v>Indiranagar</c:v>
                  </c:pt>
                  <c:pt idx="3">
                    <c:v>HSR Layout</c:v>
                  </c:pt>
                  <c:pt idx="4">
                    <c:v>Koramangala</c:v>
                  </c:pt>
                  <c:pt idx="5">
                    <c:v>Yelahanka</c:v>
                  </c:pt>
                  <c:pt idx="6">
                    <c:v>Banashankari</c:v>
                  </c:pt>
                  <c:pt idx="7">
                    <c:v>Whitefield</c:v>
                  </c:pt>
                  <c:pt idx="8">
                    <c:v>Marathahalli</c:v>
                  </c:pt>
                  <c:pt idx="9">
                    <c:v>Hebbal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3491</c:v>
                </c:pt>
                <c:pt idx="1">
                  <c:v>3297</c:v>
                </c:pt>
                <c:pt idx="2">
                  <c:v>3103</c:v>
                </c:pt>
                <c:pt idx="3">
                  <c:v>3006</c:v>
                </c:pt>
                <c:pt idx="4">
                  <c:v>2812</c:v>
                </c:pt>
                <c:pt idx="5">
                  <c:v>2521</c:v>
                </c:pt>
                <c:pt idx="6">
                  <c:v>2424</c:v>
                </c:pt>
                <c:pt idx="7">
                  <c:v>1939</c:v>
                </c:pt>
                <c:pt idx="8">
                  <c:v>1648</c:v>
                </c:pt>
                <c:pt idx="9">
                  <c:v>1939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Years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6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1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404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AC Level-2
(22 kW)</c:v>
                  </c:pt>
                  <c:pt idx="1">
                    <c:v>AC Level-2
(7.4 kW)</c:v>
                  </c:pt>
                  <c:pt idx="2">
                    <c:v>DC Fast
(50 kW)</c:v>
                  </c:pt>
                  <c:pt idx="3">
                    <c:v>DC Ultra-Fast
(150 kW)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3.38</c:v>
                </c:pt>
                <c:pt idx="1">
                  <c:v>2.38</c:v>
                </c:pt>
                <c:pt idx="2">
                  <c:v>6.44</c:v>
                </c:pt>
                <c:pt idx="3">
                  <c:v>10.39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bubble3D val="0"/>
            <c:spPr>
              <a:solidFill>
                <a:srgbClr val="2E6DB4"/>
              </a:solidFill>
              <a:effectLst/>
            </c:spPr>
          </c:dPt>
          <c:dPt>
            <c:idx val="2"/>
            <c:bubble3D val="0"/>
            <c:spPr>
              <a:solidFill>
                <a:srgbClr val="D6404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High (7)</c:v>
                </c:pt>
                <c:pt idx="1">
                  <c:v>Medium (54)</c:v>
                </c:pt>
                <c:pt idx="2">
                  <c:v>Low (37)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</c:v>
                </c:pt>
                <c:pt idx="1">
                  <c:v>54</c:v>
                </c:pt>
                <c:pt idx="2">
                  <c:v>37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chart" Target="/ppt/charts/chart8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chart" Target="/ppt/charts/chart11.xml"/><Relationship Id="rId4" Type="http://schemas.openxmlformats.org/officeDocument/2006/relationships/chart" Target="/ppt/charts/chart12.xml"/><Relationship Id="rId5" Type="http://schemas.openxmlformats.org/officeDocument/2006/relationships/chart" Target="/ppt/charts/chart13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chart" Target="/ppt/charts/chart15.xml"/><Relationship Id="rId3" Type="http://schemas.openxmlformats.org/officeDocument/2006/relationships/chart" Target="/ppt/charts/chart16.xml"/><Relationship Id="rId4" Type="http://schemas.openxmlformats.org/officeDocument/2006/relationships/chart" Target="/ppt/charts/chart17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0"/>
            <a:ext cx="2679192" cy="68580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0"/>
            <a:ext cx="1399032" cy="6858000"/>
          </a:xfrm>
          <a:prstGeom prst="rect">
            <a:avLst/>
          </a:prstGeom>
          <a:solidFill>
            <a:srgbClr val="4A9F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200400"/>
            <a:ext cx="73152" cy="2011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57200"/>
            <a:ext cx="10972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A4A"/>
                </a:solidFill>
              </a:rPr>
              <a:t>TATA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A4A"/>
                </a:solidFill>
              </a:rPr>
              <a:t>POWER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37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5A623"/>
                </a:solidFill>
              </a:rPr>
              <a:t>EV CHARGING NETWORK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1031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Exploratory Data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Analysis Report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4290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C8E8"/>
                </a:solidFill>
              </a:rPr>
              <a:t>Bengaluru EV Charging Network Expansion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AC8E8"/>
                </a:solidFill>
              </a:rPr>
              <a:t>Analysis of 114,000 charging sessions | 8,000 customers | 65 stations | 18 districts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1A3A8F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4622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114K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773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Sessions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31720" y="443484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1A3A8F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31720" y="44622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8,000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4773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Customers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023360" y="443484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1A3A8F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0" y="44622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4773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Stations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715000" y="443484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1A3A8F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15000" y="44622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18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4773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Districts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217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90"/>
                </a:solidFill>
              </a:rPr>
              <a:t>Tata Power  ·  Bengaluru  ·  Aug – Nov 2024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D1A4A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137160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2880" y="10972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A4A"/>
                </a:solidFill>
              </a:rPr>
              <a:t>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82880" y="1371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D1A4A"/>
                </a:solidFill>
              </a:rPr>
              <a:t>TATA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D1A4A"/>
                </a:solidFill>
              </a:rPr>
              <a:t>POWER</a:t>
            </a:r>
            <a:endParaRPr lang="en-US" sz="5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</a:rPr>
              <a:t>AGENDA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C8E8"/>
                </a:solidFill>
              </a:rPr>
              <a:t>Tata Power EV Charging Network · EDA Report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5577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143560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1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9768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13990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Executive Summary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176479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090"/>
                </a:solidFill>
              </a:rPr>
              <a:t>Key project overview, objectives &amp; dataset snapshot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63640" y="1234440"/>
            <a:ext cx="5577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73368" y="143560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1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73368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976872" y="13990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Data Overview &amp; Preparation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76872" y="176479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090"/>
                </a:solidFill>
              </a:rPr>
              <a:t>Five datasets, data model relationships &amp; quality checks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651760"/>
            <a:ext cx="5577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" y="285292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1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29768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" y="281635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Business &amp; Usage Overview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33272" y="318211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090"/>
                </a:solidFill>
              </a:rPr>
              <a:t>Charging demand, revenue trends &amp; income-tier analysis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2651760"/>
            <a:ext cx="5577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73368" y="285292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1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73368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76872" y="281635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Station Utilization &amp; Efficiency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76872" y="318211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090"/>
                </a:solidFill>
              </a:rPr>
              <a:t>Top/bottom stations, district density &amp; energy data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069080"/>
            <a:ext cx="5577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9768" y="427024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1A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29768" y="4270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33272" y="423367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Customer &amp; Demand Behavior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" y="459943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090"/>
                </a:solidFill>
              </a:rPr>
              <a:t>Segmentation by income tier, car model &amp; frequency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4069080"/>
            <a:ext cx="5577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73368" y="427024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1A4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373368" y="4270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976872" y="423367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Financial Performance &amp; Expansion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976872" y="459943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090"/>
                </a:solidFill>
              </a:rPr>
              <a:t>ROI analysis, CAPEX, EBITDA &amp; priority districts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5486400"/>
            <a:ext cx="5577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9768" y="568756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1A4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29768" y="5687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33272" y="565099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Key Findings &amp; Recommendations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033272" y="601675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090"/>
                </a:solidFill>
              </a:rPr>
              <a:t>Strategic priorities &amp; next steps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D1A4A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137160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2880" y="10972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A4A"/>
                </a:solidFill>
              </a:rPr>
              <a:t>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82880" y="1371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D1A4A"/>
                </a:solidFill>
              </a:rPr>
              <a:t>TATA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D1A4A"/>
                </a:solidFill>
              </a:rPr>
              <a:t>POWER</a:t>
            </a:r>
            <a:endParaRPr lang="en-US" sz="5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C8E8"/>
                </a:solidFill>
              </a:rPr>
              <a:t>Bengaluru EV Charging Network · Aug–Nov 2024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2212848" cy="1005840"/>
          </a:xfrm>
          <a:prstGeom prst="roundRect">
            <a:avLst>
              <a:gd name="adj" fmla="val 7273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Total Charging Sessions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47472" y="152704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114,000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15184" y="1143000"/>
            <a:ext cx="2212848" cy="1005840"/>
          </a:xfrm>
          <a:prstGeom prst="roundRect">
            <a:avLst>
              <a:gd name="adj" fmla="val 7273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88336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Total Energy Consumed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688336" y="152704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2.9M kWh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56048" y="1143000"/>
            <a:ext cx="2212848" cy="1005840"/>
          </a:xfrm>
          <a:prstGeom prst="roundRect">
            <a:avLst>
              <a:gd name="adj" fmla="val 7273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Total Revenue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52704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₹49.7M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296912" y="1143000"/>
            <a:ext cx="2212848" cy="1005840"/>
          </a:xfrm>
          <a:prstGeom prst="roundRect">
            <a:avLst>
              <a:gd name="adj" fmla="val 7273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70064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Active Customers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370064" y="152704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37776" y="1143000"/>
            <a:ext cx="2212848" cy="1005840"/>
          </a:xfrm>
          <a:prstGeom prst="roundRect">
            <a:avLst>
              <a:gd name="adj" fmla="val 7273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10928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Total Stations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9710928" y="152704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65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74320" y="2331720"/>
            <a:ext cx="566928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2468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6DB4"/>
                </a:solidFill>
              </a:rPr>
              <a:t>PROJECT OBJECTIVES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2880360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28346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340"/>
                </a:solidFill>
              </a:rPr>
              <a:t>Understand EV charging demand trends across Bengaluru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3310128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9808" y="32644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340"/>
                </a:solidFill>
              </a:rPr>
              <a:t>Evaluate station utilization and operational efficiency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3739896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9808" y="369417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340"/>
                </a:solidFill>
              </a:rPr>
              <a:t>Analyze customer behavior across income tiers and vehicle models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4169664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49808" y="41239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340"/>
                </a:solidFill>
              </a:rPr>
              <a:t>Identify financially attractive expansion districts using ROI analysis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72200" y="2331720"/>
            <a:ext cx="5687568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0" y="2468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6DB4"/>
                </a:solidFill>
              </a:rPr>
              <a:t>DATASET OVERVIEW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99632" y="2871216"/>
            <a:ext cx="5632704" cy="329184"/>
          </a:xfrm>
          <a:prstGeom prst="rect">
            <a:avLst/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0" y="2907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ROI Bengaluru Districts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9006840" y="29077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6DB4"/>
                </a:solidFill>
              </a:rPr>
              <a:t>98 rows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0332720" y="2907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90"/>
                </a:solidFill>
              </a:rPr>
              <a:t>Expansion planning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99632" y="3218688"/>
            <a:ext cx="563270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0" y="3255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Charging Sessions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9006840" y="32552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6DB4"/>
                </a:solidFill>
              </a:rPr>
              <a:t>114,000 rows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10332720" y="3255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90"/>
                </a:solidFill>
              </a:rPr>
              <a:t>Transaction history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99632" y="3566160"/>
            <a:ext cx="5632704" cy="329184"/>
          </a:xfrm>
          <a:prstGeom prst="rect">
            <a:avLst/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0800" y="3602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Charging Stations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9006840" y="3602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6DB4"/>
                </a:solidFill>
              </a:rPr>
              <a:t>65 rows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10332720" y="36027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90"/>
                </a:solidFill>
              </a:rPr>
              <a:t>Existing infrastructure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99632" y="3913632"/>
            <a:ext cx="563270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00800" y="3950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Customers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006840" y="3950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6DB4"/>
                </a:solidFill>
              </a:rPr>
              <a:t>8,000 rows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10332720" y="3950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90"/>
                </a:solidFill>
              </a:rPr>
              <a:t>Customer profiles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99632" y="4261104"/>
            <a:ext cx="5632704" cy="329184"/>
          </a:xfrm>
          <a:prstGeom prst="rect">
            <a:avLst/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00800" y="4297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Districts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00684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6DB4"/>
                </a:solidFill>
              </a:rPr>
              <a:t>18 rows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1033272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90"/>
                </a:solidFill>
              </a:rPr>
              <a:t>Demand forecasts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4846320"/>
            <a:ext cx="11585448" cy="713232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02920" y="491947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KEY INSIGHT  |  EV demand varies significantly across Bengaluru districts. Revenue is closely linked to tariffs and energy consumption. ROI-based ranking provides a practical framework for prioritizing future charging station investments.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274320" y="5669280"/>
            <a:ext cx="1158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</a:rPr>
              <a:t>All five datasets are linked through customer_id, station_id, and district_name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D1A4A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137160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2880" y="10972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A4A"/>
                </a:solidFill>
              </a:rPr>
              <a:t>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82880" y="1371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D1A4A"/>
                </a:solidFill>
              </a:rPr>
              <a:t>TATA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D1A4A"/>
                </a:solidFill>
              </a:rPr>
              <a:t>POWER</a:t>
            </a:r>
            <a:endParaRPr lang="en-US" sz="5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</a:rPr>
              <a:t>BUSINESS AND USAGE OVERVIEW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C8E8"/>
                </a:solidFill>
              </a:rPr>
              <a:t>Dashboard 1 · Aug–Nov 2024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Total Charging Sessions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47472" y="1527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114,000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15184" y="114300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88336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Total Energy Consumed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688336" y="1527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2.9M kWh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56048" y="114300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Total Revenue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527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₹49.7M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296912" y="114300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70064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Active Customers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370064" y="1527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37776" y="114300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10928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Total Stations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9710928" y="1527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65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74320" y="2240280"/>
            <a:ext cx="58064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23591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</a:rPr>
              <a:t>Monthly Charging Demand</a:t>
            </a:r>
            <a:endParaRPr lang="en-US" sz="11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74320" y="2606040"/>
          <a:ext cx="580644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6309360" y="2240280"/>
            <a:ext cx="5550408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92240" y="23591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</a:rPr>
              <a:t>Revenue vs Energy Consumption by Month</a:t>
            </a:r>
            <a:endParaRPr lang="en-US" sz="11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6309360" y="2606040"/>
          <a:ext cx="5550408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Shape 25"/>
          <p:cNvSpPr/>
          <p:nvPr/>
        </p:nvSpPr>
        <p:spPr>
          <a:xfrm>
            <a:off x="274320" y="4663440"/>
            <a:ext cx="58064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02920" y="47731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</a:rPr>
              <a:t>Charging Sessions by Income Tier</a:t>
            </a:r>
            <a:endParaRPr lang="en-US" sz="1100" dirty="0"/>
          </a:p>
        </p:txBody>
      </p:sp>
      <p:graphicFrame>
        <p:nvGraphicFramePr>
          <p:cNvPr id="31" name="Chart 2" descr=""/>
          <p:cNvGraphicFramePr/>
          <p:nvPr/>
        </p:nvGraphicFramePr>
        <p:xfrm>
          <a:off x="274320" y="4983480"/>
          <a:ext cx="580644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2" name="Shape 27"/>
          <p:cNvSpPr/>
          <p:nvPr/>
        </p:nvSpPr>
        <p:spPr>
          <a:xfrm>
            <a:off x="6309360" y="4663440"/>
            <a:ext cx="5550408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492240" y="47731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</a:rPr>
              <a:t>Top 5 Busiest Stations (Sessions)</a:t>
            </a:r>
            <a:endParaRPr lang="en-US" sz="11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6309360" y="4983480"/>
          <a:ext cx="5550408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D1A4A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137160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2880" y="10972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A4A"/>
                </a:solidFill>
              </a:rPr>
              <a:t>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82880" y="1371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D1A4A"/>
                </a:solidFill>
              </a:rPr>
              <a:t>TATA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D1A4A"/>
                </a:solidFill>
              </a:rPr>
              <a:t>POWER</a:t>
            </a:r>
            <a:endParaRPr lang="en-US" sz="5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</a:rPr>
              <a:t>STATION UTILIZATION AND OPERATIONAL EFFICIENCY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C8E8"/>
                </a:solidFill>
              </a:rPr>
              <a:t>Dashboard 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Sessions / Station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47472" y="1527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1,753.85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15184" y="114300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88336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Sessions / Plug Ratio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688336" y="1527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292.31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56048" y="114300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Avg kWh / Station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527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44,000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296912" y="114300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70064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Total Sessions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370064" y="1527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114,000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37776" y="114300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10928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Avg Battery Capacity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9710928" y="1527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31.39 kWh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74320" y="2212848"/>
            <a:ext cx="58064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232257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</a:rPr>
              <a:t>Top 10 Stations by Sessions</a:t>
            </a:r>
            <a:endParaRPr lang="en-US" sz="11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74320" y="2560320"/>
          <a:ext cx="58064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6309360" y="2212848"/>
            <a:ext cx="5550408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92240" y="232257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</a:rPr>
              <a:t>Stations by District</a:t>
            </a:r>
            <a:endParaRPr lang="en-US" sz="11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6309360" y="2560320"/>
          <a:ext cx="5550408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Shape 25"/>
          <p:cNvSpPr/>
          <p:nvPr/>
        </p:nvSpPr>
        <p:spPr>
          <a:xfrm>
            <a:off x="274320" y="4645152"/>
            <a:ext cx="5806440" cy="1901952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02920" y="4754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</a:rPr>
              <a:t>Top 10 Stations by Energy Consumption (kWh)</a:t>
            </a:r>
            <a:endParaRPr lang="en-US" sz="1100" dirty="0"/>
          </a:p>
        </p:txBody>
      </p:sp>
      <p:graphicFrame>
        <p:nvGraphicFramePr>
          <p:cNvPr id="31" name="Chart 2" descr=""/>
          <p:cNvGraphicFramePr/>
          <p:nvPr/>
        </p:nvGraphicFramePr>
        <p:xfrm>
          <a:off x="274320" y="4974336"/>
          <a:ext cx="580644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2" name="Shape 27"/>
          <p:cNvSpPr/>
          <p:nvPr/>
        </p:nvSpPr>
        <p:spPr>
          <a:xfrm>
            <a:off x="6309360" y="4645152"/>
            <a:ext cx="5550408" cy="1901952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492240" y="4754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</a:rPr>
              <a:t>Bottom 10 Stations by Sessions</a:t>
            </a:r>
            <a:endParaRPr lang="en-US" sz="11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6309360" y="4974336"/>
          <a:ext cx="5550408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D1A4A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137160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2880" y="10972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A4A"/>
                </a:solidFill>
              </a:rPr>
              <a:t>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82880" y="1371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D1A4A"/>
                </a:solidFill>
              </a:rPr>
              <a:t>TATA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D1A4A"/>
                </a:solidFill>
              </a:rPr>
              <a:t>POWER</a:t>
            </a:r>
            <a:endParaRPr lang="en-US" sz="5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</a:rPr>
              <a:t>CUSTOMER AND DEMAND BEHAVIOR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C8E8"/>
                </a:solidFill>
              </a:rPr>
              <a:t>Dashboard 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Unique Customers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47472" y="1527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8,000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15184" y="114300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88336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Sessions / Customer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688336" y="1527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14.25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56048" y="114300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Avg kWh / Customer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527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357.47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296912" y="114300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70064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Revenue / Customer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370064" y="1527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₹6,211.74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37776" y="114300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10928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Avg Sessions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9710928" y="1527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14.25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74320" y="2212848"/>
            <a:ext cx="58064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232257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</a:rPr>
              <a:t>Top 10 Customers by Sessions</a:t>
            </a:r>
            <a:endParaRPr lang="en-US" sz="11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74320" y="2560320"/>
          <a:ext cx="58064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6309360" y="2212848"/>
            <a:ext cx="5550408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92240" y="232257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</a:rPr>
              <a:t>Customers by Income Tier</a:t>
            </a:r>
            <a:endParaRPr lang="en-US" sz="11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6309360" y="2560320"/>
          <a:ext cx="5550408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Shape 25"/>
          <p:cNvSpPr/>
          <p:nvPr/>
        </p:nvSpPr>
        <p:spPr>
          <a:xfrm>
            <a:off x="274320" y="4645152"/>
            <a:ext cx="2743200" cy="1901952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11480" y="4754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40"/>
                </a:solidFill>
              </a:rPr>
              <a:t>Revenue by Income Tier</a:t>
            </a:r>
            <a:endParaRPr lang="en-US" sz="1000" dirty="0"/>
          </a:p>
        </p:txBody>
      </p:sp>
      <p:graphicFrame>
        <p:nvGraphicFramePr>
          <p:cNvPr id="31" name="Chart 2" descr=""/>
          <p:cNvGraphicFramePr/>
          <p:nvPr/>
        </p:nvGraphicFramePr>
        <p:xfrm>
          <a:off x="274320" y="4974336"/>
          <a:ext cx="274320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2" name="Shape 27"/>
          <p:cNvSpPr/>
          <p:nvPr/>
        </p:nvSpPr>
        <p:spPr>
          <a:xfrm>
            <a:off x="3154680" y="4645152"/>
            <a:ext cx="2926080" cy="1901952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3291840" y="4754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40"/>
                </a:solidFill>
              </a:rPr>
              <a:t>Energy Consumption by Income Tier</a:t>
            </a:r>
            <a:endParaRPr lang="en-US" sz="10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3154680" y="4974336"/>
          <a:ext cx="292608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Shape 29"/>
          <p:cNvSpPr/>
          <p:nvPr/>
        </p:nvSpPr>
        <p:spPr>
          <a:xfrm>
            <a:off x="6309360" y="4645152"/>
            <a:ext cx="5550408" cy="1901952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492240" y="4754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40"/>
                </a:solidFill>
              </a:rPr>
              <a:t>Active Customers by Car Model (Top 10)</a:t>
            </a:r>
            <a:endParaRPr lang="en-US" sz="1000" dirty="0"/>
          </a:p>
        </p:txBody>
      </p:sp>
      <p:graphicFrame>
        <p:nvGraphicFramePr>
          <p:cNvPr id="37" name="Chart 4" descr=""/>
          <p:cNvGraphicFramePr/>
          <p:nvPr/>
        </p:nvGraphicFramePr>
        <p:xfrm>
          <a:off x="6309360" y="4974336"/>
          <a:ext cx="5550408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D1A4A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137160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2880" y="10972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A4A"/>
                </a:solidFill>
              </a:rPr>
              <a:t>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82880" y="1371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D1A4A"/>
                </a:solidFill>
              </a:rPr>
              <a:t>TATA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D1A4A"/>
                </a:solidFill>
              </a:rPr>
              <a:t>POWER</a:t>
            </a:r>
            <a:endParaRPr lang="en-US" sz="5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</a:rPr>
              <a:t>FINANCIAL PERFORMANCE AND EXPANSION STRATEGY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C8E8"/>
                </a:solidFill>
              </a:rPr>
              <a:t>Dashboard 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Total CAPEX (₹Cr)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47472" y="1527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13,921.62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15184" y="114300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88336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Annual Revenue (₹Cr)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688336" y="1527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4,628.64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56048" y="114300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Annual EBITDA (₹Cr)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527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3,238.53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296912" y="114300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70064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Avg Payback Period (yr)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370064" y="1527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4.61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37776" y="1143000"/>
            <a:ext cx="2212848" cy="914400"/>
          </a:xfrm>
          <a:prstGeom prst="roundRect">
            <a:avLst>
              <a:gd name="adj" fmla="val 8000"/>
            </a:avLst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10928" y="12161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8E8"/>
                </a:solidFill>
              </a:rPr>
              <a:t>Avg 5-Year ROI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9710928" y="152704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41.43%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74320" y="2212848"/>
            <a:ext cx="58064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232257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40"/>
                </a:solidFill>
              </a:rPr>
              <a:t>5-Year ROI by District (%)</a:t>
            </a:r>
            <a:endParaRPr lang="en-US" sz="11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74320" y="2560320"/>
          <a:ext cx="58064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6309360" y="2212848"/>
            <a:ext cx="5550408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92240" y="232257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40"/>
                </a:solidFill>
              </a:rPr>
              <a:t>Demand-Supply Gap by District (Projected EVs)</a:t>
            </a:r>
            <a:endParaRPr lang="en-US" sz="10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6309360" y="2560320"/>
          <a:ext cx="5550408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Shape 25"/>
          <p:cNvSpPr/>
          <p:nvPr/>
        </p:nvSpPr>
        <p:spPr>
          <a:xfrm>
            <a:off x="274320" y="4645152"/>
            <a:ext cx="3474720" cy="1901952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1148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40"/>
                </a:solidFill>
              </a:rPr>
              <a:t>Payback Period by Charger Type (yrs)</a:t>
            </a:r>
            <a:endParaRPr lang="en-US" sz="1000" dirty="0"/>
          </a:p>
        </p:txBody>
      </p:sp>
      <p:graphicFrame>
        <p:nvGraphicFramePr>
          <p:cNvPr id="31" name="Chart 2" descr=""/>
          <p:cNvGraphicFramePr/>
          <p:nvPr/>
        </p:nvGraphicFramePr>
        <p:xfrm>
          <a:off x="274320" y="4974336"/>
          <a:ext cx="347472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2" name="Shape 27"/>
          <p:cNvSpPr/>
          <p:nvPr/>
        </p:nvSpPr>
        <p:spPr>
          <a:xfrm>
            <a:off x="3886200" y="4645152"/>
            <a:ext cx="2560320" cy="1901952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402336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40"/>
                </a:solidFill>
              </a:rPr>
              <a:t>Projects by Priority Tier</a:t>
            </a:r>
            <a:endParaRPr lang="en-US" sz="10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3886200" y="4974336"/>
          <a:ext cx="256032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Shape 29"/>
          <p:cNvSpPr/>
          <p:nvPr/>
        </p:nvSpPr>
        <p:spPr>
          <a:xfrm>
            <a:off x="6583680" y="4645152"/>
            <a:ext cx="5276088" cy="1901952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720840" y="47365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40"/>
                </a:solidFill>
              </a:rPr>
              <a:t>District ROI &amp; Station Density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6583680" y="5029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District</a:t>
            </a:r>
            <a:endParaRPr lang="en-US" sz="800" dirty="0"/>
          </a:p>
        </p:txBody>
      </p:sp>
      <p:sp>
        <p:nvSpPr>
          <p:cNvPr id="38" name="Text 32"/>
          <p:cNvSpPr txBox="1"/>
          <p:nvPr/>
        </p:nvSpPr>
        <p:spPr>
          <a:xfrm>
            <a:off x="8138160" y="5029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Proj. EVs</a:t>
            </a:r>
            <a:endParaRPr lang="en-US" sz="800" dirty="0"/>
          </a:p>
        </p:txBody>
      </p:sp>
      <p:sp>
        <p:nvSpPr>
          <p:cNvPr id="39" name="Text 33"/>
          <p:cNvSpPr txBox="1"/>
          <p:nvPr/>
        </p:nvSpPr>
        <p:spPr>
          <a:xfrm>
            <a:off x="9326880" y="5029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Avg ROI</a:t>
            </a:r>
            <a:endParaRPr lang="en-US" sz="800" dirty="0"/>
          </a:p>
        </p:txBody>
      </p:sp>
      <p:sp>
        <p:nvSpPr>
          <p:cNvPr id="40" name="Text 34"/>
          <p:cNvSpPr txBox="1"/>
          <p:nvPr/>
        </p:nvSpPr>
        <p:spPr>
          <a:xfrm>
            <a:off x="10424160" y="50292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Density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6583680" y="5029200"/>
            <a:ext cx="5276088" cy="256032"/>
          </a:xfrm>
          <a:prstGeom prst="rect">
            <a:avLst/>
          </a:prstGeom>
          <a:solidFill>
            <a:srgbClr val="0D1A4A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6583680" y="50474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District</a:t>
            </a:r>
            <a:endParaRPr lang="en-US" sz="750" dirty="0"/>
          </a:p>
        </p:txBody>
      </p:sp>
      <p:sp>
        <p:nvSpPr>
          <p:cNvPr id="43" name="Text 37"/>
          <p:cNvSpPr txBox="1"/>
          <p:nvPr/>
        </p:nvSpPr>
        <p:spPr>
          <a:xfrm>
            <a:off x="8138160" y="5047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Proj. EVs</a:t>
            </a:r>
            <a:endParaRPr lang="en-US" sz="750" dirty="0"/>
          </a:p>
        </p:txBody>
      </p:sp>
      <p:sp>
        <p:nvSpPr>
          <p:cNvPr id="44" name="Text 38"/>
          <p:cNvSpPr txBox="1"/>
          <p:nvPr/>
        </p:nvSpPr>
        <p:spPr>
          <a:xfrm>
            <a:off x="9326880" y="50474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Avg ROI</a:t>
            </a:r>
            <a:endParaRPr lang="en-US" sz="750" dirty="0"/>
          </a:p>
        </p:txBody>
      </p:sp>
      <p:sp>
        <p:nvSpPr>
          <p:cNvPr id="45" name="Text 39"/>
          <p:cNvSpPr txBox="1"/>
          <p:nvPr/>
        </p:nvSpPr>
        <p:spPr>
          <a:xfrm>
            <a:off x="10424160" y="50474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Density</a:t>
            </a:r>
            <a:endParaRPr lang="en-US" sz="750" dirty="0"/>
          </a:p>
        </p:txBody>
      </p:sp>
      <p:sp>
        <p:nvSpPr>
          <p:cNvPr id="46" name="Shape 40"/>
          <p:cNvSpPr/>
          <p:nvPr/>
        </p:nvSpPr>
        <p:spPr>
          <a:xfrm>
            <a:off x="6583680" y="5285232"/>
            <a:ext cx="5276088" cy="274320"/>
          </a:xfrm>
          <a:prstGeom prst="rect">
            <a:avLst/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6583680" y="53035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2340"/>
                </a:solidFill>
              </a:rPr>
              <a:t>Bommanahalli</a:t>
            </a:r>
            <a:endParaRPr lang="en-US" sz="750" dirty="0"/>
          </a:p>
        </p:txBody>
      </p:sp>
      <p:sp>
        <p:nvSpPr>
          <p:cNvPr id="48" name="Text 42"/>
          <p:cNvSpPr txBox="1"/>
          <p:nvPr/>
        </p:nvSpPr>
        <p:spPr>
          <a:xfrm>
            <a:off x="8138160" y="53035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340"/>
                </a:solidFill>
              </a:rPr>
              <a:t>1,200</a:t>
            </a:r>
            <a:endParaRPr lang="en-US" sz="750" dirty="0"/>
          </a:p>
        </p:txBody>
      </p:sp>
      <p:sp>
        <p:nvSpPr>
          <p:cNvPr id="49" name="Text 43"/>
          <p:cNvSpPr txBox="1"/>
          <p:nvPr/>
        </p:nvSpPr>
        <p:spPr>
          <a:xfrm>
            <a:off x="9326880" y="53035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3A8F"/>
                </a:solidFill>
              </a:rPr>
              <a:t>144.7%</a:t>
            </a:r>
            <a:endParaRPr lang="en-US" sz="750" dirty="0"/>
          </a:p>
        </p:txBody>
      </p:sp>
      <p:sp>
        <p:nvSpPr>
          <p:cNvPr id="50" name="Text 44"/>
          <p:cNvSpPr txBox="1"/>
          <p:nvPr/>
        </p:nvSpPr>
        <p:spPr>
          <a:xfrm>
            <a:off x="10424160" y="53035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340"/>
                </a:solidFill>
              </a:rPr>
              <a:t>3</a:t>
            </a:r>
            <a:endParaRPr lang="en-US" sz="750" dirty="0"/>
          </a:p>
        </p:txBody>
      </p:sp>
      <p:sp>
        <p:nvSpPr>
          <p:cNvPr id="51" name="Shape 45"/>
          <p:cNvSpPr/>
          <p:nvPr/>
        </p:nvSpPr>
        <p:spPr>
          <a:xfrm>
            <a:off x="6583680" y="5559552"/>
            <a:ext cx="527608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6583680" y="55778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2340"/>
                </a:solidFill>
              </a:rPr>
              <a:t>Marathahalli</a:t>
            </a:r>
            <a:endParaRPr lang="en-US" sz="750" dirty="0"/>
          </a:p>
        </p:txBody>
      </p:sp>
      <p:sp>
        <p:nvSpPr>
          <p:cNvPr id="53" name="Text 47"/>
          <p:cNvSpPr txBox="1"/>
          <p:nvPr/>
        </p:nvSpPr>
        <p:spPr>
          <a:xfrm>
            <a:off x="8138160" y="5577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340"/>
                </a:solidFill>
              </a:rPr>
              <a:t>1,700</a:t>
            </a:r>
            <a:endParaRPr lang="en-US" sz="750" dirty="0"/>
          </a:p>
        </p:txBody>
      </p:sp>
      <p:sp>
        <p:nvSpPr>
          <p:cNvPr id="54" name="Text 48"/>
          <p:cNvSpPr txBox="1"/>
          <p:nvPr/>
        </p:nvSpPr>
        <p:spPr>
          <a:xfrm>
            <a:off x="9326880" y="5577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3A8F"/>
                </a:solidFill>
              </a:rPr>
              <a:t>82.4%</a:t>
            </a:r>
            <a:endParaRPr lang="en-US" sz="750" dirty="0"/>
          </a:p>
        </p:txBody>
      </p:sp>
      <p:sp>
        <p:nvSpPr>
          <p:cNvPr id="55" name="Text 49"/>
          <p:cNvSpPr txBox="1"/>
          <p:nvPr/>
        </p:nvSpPr>
        <p:spPr>
          <a:xfrm>
            <a:off x="10424160" y="55778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340"/>
                </a:solidFill>
              </a:rPr>
              <a:t>4</a:t>
            </a:r>
            <a:endParaRPr lang="en-US" sz="750" dirty="0"/>
          </a:p>
        </p:txBody>
      </p:sp>
      <p:sp>
        <p:nvSpPr>
          <p:cNvPr id="56" name="Shape 50"/>
          <p:cNvSpPr/>
          <p:nvPr/>
        </p:nvSpPr>
        <p:spPr>
          <a:xfrm>
            <a:off x="6583680" y="5833872"/>
            <a:ext cx="5276088" cy="274320"/>
          </a:xfrm>
          <a:prstGeom prst="rect">
            <a:avLst/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6583680" y="58521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2340"/>
                </a:solidFill>
              </a:rPr>
              <a:t>Banashankari</a:t>
            </a:r>
            <a:endParaRPr lang="en-US" sz="750" dirty="0"/>
          </a:p>
        </p:txBody>
      </p:sp>
      <p:sp>
        <p:nvSpPr>
          <p:cNvPr id="58" name="Text 52"/>
          <p:cNvSpPr txBox="1"/>
          <p:nvPr/>
        </p:nvSpPr>
        <p:spPr>
          <a:xfrm>
            <a:off x="8138160" y="5852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340"/>
                </a:solidFill>
              </a:rPr>
              <a:t>2,500</a:t>
            </a:r>
            <a:endParaRPr lang="en-US" sz="750" dirty="0"/>
          </a:p>
        </p:txBody>
      </p:sp>
      <p:sp>
        <p:nvSpPr>
          <p:cNvPr id="59" name="Text 53"/>
          <p:cNvSpPr txBox="1"/>
          <p:nvPr/>
        </p:nvSpPr>
        <p:spPr>
          <a:xfrm>
            <a:off x="9326880" y="5852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3A8F"/>
                </a:solidFill>
              </a:rPr>
              <a:t>80.2%</a:t>
            </a:r>
            <a:endParaRPr lang="en-US" sz="750" dirty="0"/>
          </a:p>
        </p:txBody>
      </p:sp>
      <p:sp>
        <p:nvSpPr>
          <p:cNvPr id="60" name="Text 54"/>
          <p:cNvSpPr txBox="1"/>
          <p:nvPr/>
        </p:nvSpPr>
        <p:spPr>
          <a:xfrm>
            <a:off x="10424160" y="585216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340"/>
                </a:solidFill>
              </a:rPr>
              <a:t>4</a:t>
            </a:r>
            <a:endParaRPr lang="en-US" sz="750" dirty="0"/>
          </a:p>
        </p:txBody>
      </p:sp>
      <p:sp>
        <p:nvSpPr>
          <p:cNvPr id="61" name="Shape 55"/>
          <p:cNvSpPr/>
          <p:nvPr/>
        </p:nvSpPr>
        <p:spPr>
          <a:xfrm>
            <a:off x="6583680" y="6108192"/>
            <a:ext cx="527608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6583680" y="61264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2340"/>
                </a:solidFill>
              </a:rPr>
              <a:t>Electronic City</a:t>
            </a:r>
            <a:endParaRPr lang="en-US" sz="750" dirty="0"/>
          </a:p>
        </p:txBody>
      </p:sp>
      <p:sp>
        <p:nvSpPr>
          <p:cNvPr id="63" name="Text 57"/>
          <p:cNvSpPr txBox="1"/>
          <p:nvPr/>
        </p:nvSpPr>
        <p:spPr>
          <a:xfrm>
            <a:off x="8138160" y="61264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340"/>
                </a:solidFill>
              </a:rPr>
              <a:t>1,100</a:t>
            </a:r>
            <a:endParaRPr lang="en-US" sz="750" dirty="0"/>
          </a:p>
        </p:txBody>
      </p:sp>
      <p:sp>
        <p:nvSpPr>
          <p:cNvPr id="64" name="Text 58"/>
          <p:cNvSpPr txBox="1"/>
          <p:nvPr/>
        </p:nvSpPr>
        <p:spPr>
          <a:xfrm>
            <a:off x="9326880" y="61264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3A8F"/>
                </a:solidFill>
              </a:rPr>
              <a:t>75.0%</a:t>
            </a:r>
            <a:endParaRPr lang="en-US" sz="750" dirty="0"/>
          </a:p>
        </p:txBody>
      </p:sp>
      <p:sp>
        <p:nvSpPr>
          <p:cNvPr id="65" name="Text 59"/>
          <p:cNvSpPr txBox="1"/>
          <p:nvPr/>
        </p:nvSpPr>
        <p:spPr>
          <a:xfrm>
            <a:off x="10424160" y="61264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340"/>
                </a:solidFill>
              </a:rPr>
              <a:t>4</a:t>
            </a:r>
            <a:endParaRPr lang="en-US" sz="750" dirty="0"/>
          </a:p>
        </p:txBody>
      </p:sp>
      <p:sp>
        <p:nvSpPr>
          <p:cNvPr id="66" name="Shape 60"/>
          <p:cNvSpPr/>
          <p:nvPr/>
        </p:nvSpPr>
        <p:spPr>
          <a:xfrm>
            <a:off x="6583680" y="6382512"/>
            <a:ext cx="5276088" cy="274320"/>
          </a:xfrm>
          <a:prstGeom prst="rect">
            <a:avLst/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sp>
        <p:nvSpPr>
          <p:cNvPr id="67" name="Text 61"/>
          <p:cNvSpPr txBox="1"/>
          <p:nvPr/>
        </p:nvSpPr>
        <p:spPr>
          <a:xfrm>
            <a:off x="6583680" y="64008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2340"/>
                </a:solidFill>
              </a:rPr>
              <a:t>HSR Layout</a:t>
            </a:r>
            <a:endParaRPr lang="en-US" sz="750" dirty="0"/>
          </a:p>
        </p:txBody>
      </p:sp>
      <p:sp>
        <p:nvSpPr>
          <p:cNvPr id="68" name="Text 62"/>
          <p:cNvSpPr txBox="1"/>
          <p:nvPr/>
        </p:nvSpPr>
        <p:spPr>
          <a:xfrm>
            <a:off x="8138160" y="64008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340"/>
                </a:solidFill>
              </a:rPr>
              <a:t>3,100</a:t>
            </a:r>
            <a:endParaRPr lang="en-US" sz="750" dirty="0"/>
          </a:p>
        </p:txBody>
      </p:sp>
      <p:sp>
        <p:nvSpPr>
          <p:cNvPr id="69" name="Text 63"/>
          <p:cNvSpPr txBox="1"/>
          <p:nvPr/>
        </p:nvSpPr>
        <p:spPr>
          <a:xfrm>
            <a:off x="9326880" y="6400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3A8F"/>
                </a:solidFill>
              </a:rPr>
              <a:t>65.6%</a:t>
            </a:r>
            <a:endParaRPr lang="en-US" sz="750" dirty="0"/>
          </a:p>
        </p:txBody>
      </p:sp>
      <p:sp>
        <p:nvSpPr>
          <p:cNvPr id="70" name="Text 64"/>
          <p:cNvSpPr txBox="1"/>
          <p:nvPr/>
        </p:nvSpPr>
        <p:spPr>
          <a:xfrm>
            <a:off x="10424160" y="64008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340"/>
                </a:solidFill>
              </a:rPr>
              <a:t>4</a:t>
            </a:r>
            <a:endParaRPr lang="en-US" sz="750" dirty="0"/>
          </a:p>
        </p:txBody>
      </p:sp>
      <p:sp>
        <p:nvSpPr>
          <p:cNvPr id="71" name="Shape 65"/>
          <p:cNvSpPr/>
          <p:nvPr/>
        </p:nvSpPr>
        <p:spPr>
          <a:xfrm>
            <a:off x="6583680" y="6656832"/>
            <a:ext cx="527608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66"/>
          <p:cNvSpPr txBox="1"/>
          <p:nvPr/>
        </p:nvSpPr>
        <p:spPr>
          <a:xfrm>
            <a:off x="6583680" y="66751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2340"/>
                </a:solidFill>
              </a:rPr>
              <a:t>Jayanagar</a:t>
            </a:r>
            <a:endParaRPr lang="en-US" sz="750" dirty="0"/>
          </a:p>
        </p:txBody>
      </p:sp>
      <p:sp>
        <p:nvSpPr>
          <p:cNvPr id="73" name="Text 67"/>
          <p:cNvSpPr txBox="1"/>
          <p:nvPr/>
        </p:nvSpPr>
        <p:spPr>
          <a:xfrm>
            <a:off x="8138160" y="66751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340"/>
                </a:solidFill>
              </a:rPr>
              <a:t>3,600</a:t>
            </a:r>
            <a:endParaRPr lang="en-US" sz="750" dirty="0"/>
          </a:p>
        </p:txBody>
      </p:sp>
      <p:sp>
        <p:nvSpPr>
          <p:cNvPr id="74" name="Text 68"/>
          <p:cNvSpPr txBox="1"/>
          <p:nvPr/>
        </p:nvSpPr>
        <p:spPr>
          <a:xfrm>
            <a:off x="9326880" y="66751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3A8F"/>
                </a:solidFill>
              </a:rPr>
              <a:t>59.1%</a:t>
            </a:r>
            <a:endParaRPr lang="en-US" sz="750" dirty="0"/>
          </a:p>
        </p:txBody>
      </p:sp>
      <p:sp>
        <p:nvSpPr>
          <p:cNvPr id="75" name="Text 69"/>
          <p:cNvSpPr txBox="1"/>
          <p:nvPr/>
        </p:nvSpPr>
        <p:spPr>
          <a:xfrm>
            <a:off x="10424160" y="66751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340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D1A4A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137160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2880" y="10972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A4A"/>
                </a:solidFill>
              </a:rPr>
              <a:t>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82880" y="1371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D1A4A"/>
                </a:solidFill>
              </a:rPr>
              <a:t>TATA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0D1A4A"/>
                </a:solidFill>
              </a:rPr>
              <a:t>POWER</a:t>
            </a:r>
            <a:endParaRPr lang="en-US" sz="5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</a:rPr>
              <a:t>KEY FINDINGS AND RECOMMENDATIONS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C8E8"/>
                </a:solidFill>
              </a:rPr>
              <a:t>Strategic Priorities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5577840" cy="5303520"/>
          </a:xfrm>
          <a:prstGeom prst="roundRect">
            <a:avLst>
              <a:gd name="adj" fmla="val 1207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88720"/>
            <a:ext cx="5577840" cy="411480"/>
          </a:xfrm>
          <a:prstGeom prst="rect">
            <a:avLst/>
          </a:prstGeom>
          <a:solidFill>
            <a:srgbClr val="0D1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" y="11887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2E6DB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737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Demand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177393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40"/>
                </a:solidFill>
              </a:rPr>
              <a:t>October is the peak demand month with 39,610 sessions. Revenue directly tracks energy consumption.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95728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2E6DB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395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Income Tiers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572768" y="2432304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40"/>
                </a:solidFill>
              </a:rPr>
              <a:t>Low-Mid income segment dominates with 56,960 sessions (49.5%). High-income customers show lowest usage (16,980).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054096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2E6DB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305409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Station Utilization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572768" y="309067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40"/>
                </a:solidFill>
              </a:rPr>
              <a:t>Stations 24 &amp; 26 lead with 1,860 sessions each. Utilization spread is narrow (1,640–1,860), suggesting balanced load.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712464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2E6DB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371246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Energy Leaders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572768" y="374904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40"/>
                </a:solidFill>
              </a:rPr>
              <a:t>Station 24 consumes the most energy (46,920 kWh). Top 10 stations form a tight cluster (45K–47K kWh).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370832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2E6DB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43708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Customer Behavior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572768" y="440740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40"/>
                </a:solidFill>
              </a:rPr>
              <a:t>Average 14.25 sessions per customer. Revenue per customer is ₹6,211.74. Ampere Nexus is the most common vehicle (536 users).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502920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2E6DB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7200" y="5029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Financial ROI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572768" y="506577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40"/>
                </a:solidFill>
              </a:rPr>
              <a:t>Bommanahalli leads with 144.7% ROI. 4 districts have negative ROI: Dasarahalli, Kengeri, Anekal, Koramangala.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5687568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2E6DB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56875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Charger Types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1572768" y="5724144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340"/>
                </a:solidFill>
              </a:rPr>
              <a:t>DC Ultra-Fast (150 kW) has the longest payback period (10.39 yrs). AC Level-2 (7.4 kW) is fastest to recover (2.38 yrs).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80760" y="1188720"/>
            <a:ext cx="5779008" cy="5303520"/>
          </a:xfrm>
          <a:prstGeom prst="roundRect">
            <a:avLst>
              <a:gd name="adj" fmla="val 1207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0760" y="1188720"/>
            <a:ext cx="5779008" cy="411480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080760" y="1188720"/>
            <a:ext cx="5779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36208" y="1810512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236208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A4A"/>
                </a:solidFill>
              </a:rPr>
              <a:t>01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656832" y="17739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Prioritize Expansion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656832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07090"/>
                </a:solidFill>
              </a:rPr>
              <a:t>Focus on Bommanahalli, Marathahalli, and Banashankari — strong ROI (80–145%) combined with meaningful EV demand.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36208" y="2468880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236208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A4A"/>
                </a:solidFill>
              </a:rPr>
              <a:t>02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656832" y="2432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High-Demand Districts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6656832" y="2624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07090"/>
                </a:solidFill>
              </a:rPr>
              <a:t>Invest in Jayanagar, Rajajinagar, Indiranagar, and HSR Layout where projected EV populations exceed 3,000.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36208" y="3127248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236208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A4A"/>
                </a:solidFill>
              </a:rPr>
              <a:t>03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656832" y="3090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Avoid Negative ROI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656832" y="32826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07090"/>
                </a:solidFill>
              </a:rPr>
              <a:t>Monitor Dasarahalli (−21.8%), Kengeri (−12.8%), Anekal (−7.3%) before committing capital.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36208" y="3785616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236208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A4A"/>
                </a:solidFill>
              </a:rPr>
              <a:t>04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656832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Charger Mix Strategy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6656832" y="39410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07090"/>
                </a:solidFill>
              </a:rPr>
              <a:t>Prioritize AC Level-2 (7.4 kW) for fastest payback (2.38 yrs). Use DC Fast only in high-demand corridors.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36208" y="4443984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236208" y="4443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A4A"/>
                </a:solidFill>
              </a:rPr>
              <a:t>05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6656832" y="4407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Low-Mid Segment Focus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6656832" y="4599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07090"/>
                </a:solidFill>
              </a:rPr>
              <a:t>Design loyalty and engagement programs for Low-Mid income customers — the largest and most active segment.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36208" y="5102352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236208" y="5102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A4A"/>
                </a:solidFill>
              </a:rPr>
              <a:t>06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6656832" y="50657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Optimize Underperformers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6656832" y="5257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07090"/>
                </a:solidFill>
              </a:rPr>
              <a:t>Investigate bottom 10 stations (1,640–1,700 sessions) for relocation or demand-generation campaigns.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236208" y="5760720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236208" y="5760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A4A"/>
                </a:solidFill>
              </a:rPr>
              <a:t>07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6656832" y="57241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Dual Metrics Planning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6656832" y="5916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07090"/>
                </a:solidFill>
              </a:rPr>
              <a:t>Use both ROI % and projected EV demand together for expansion decisions — neither metric alone is sufficient.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0" cy="68580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A9FD4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457200"/>
            <a:ext cx="1463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0" y="457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A4A"/>
                </a:solidFill>
              </a:rPr>
              <a:t>TATA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D1A4A"/>
                </a:solidFill>
              </a:rPr>
              <a:t>POWER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2860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3566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Tata Power EV Charging Network  ·  Bengaluru Expansion EDA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4114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C8E8"/>
                </a:solidFill>
              </a:rPr>
              <a:t>This analysis demonstrates how operational, customer, infrastructure, and financial data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AC8E8"/>
                </a:solidFill>
              </a:rPr>
              <a:t>can be integrated into a unified analytical model to drive strategic expansion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530352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286000" y="5486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90"/>
                </a:solidFill>
              </a:rPr>
              <a:t>Prepared by Analytics Team  ·  Tools: Excel Power Query · Power Pivot · DAX  ·  Period: Aug–Nov 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2026-09-05T14:18:50Z</dcterms:created>
  <dcterms:modified xsi:type="dcterms:W3CDTF">2026-09-05T14:18:50Z</dcterms:modified>
</cp:coreProperties>
</file>